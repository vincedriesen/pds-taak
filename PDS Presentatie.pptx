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EB5338-5BE0-4403-9CFF-9F93B80C1C8A}">
  <a:tblStyle styleId="{2AEB5338-5BE0-4403-9CFF-9F93B80C1C8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ef5be061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ef5be061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83f7a705751a4e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83f7a705751a4e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ef5be061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ef5be061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ef5be061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ef5be061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ef5be061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ef5be061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ef5be061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ef5be061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8ca4405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f8ca4405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8ca4405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f8ca4405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f8ca4405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f8ca4405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f8ca440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f8ca440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ef5be061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ef5be061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ef5be061c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ef5be061c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ef5be061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ef5be061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ef5be061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ef5be061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ef5be061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ef5be061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f5be061c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ef5be061c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f5be061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ef5be061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-XXg1Uc7M66EHja5BHVGYJqtNuwHCwNO/view" TargetMode="External"/><Relationship Id="rId4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Parallel</a:t>
            </a:r>
            <a:r>
              <a:rPr lang="nl"/>
              <a:t> &amp; Distributed Systems - Taak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Vince Driesen &amp; Daan Hollands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Het Probleem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944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Uitwerken van een particle/fluid </a:t>
            </a:r>
            <a:r>
              <a:rPr lang="nl"/>
              <a:t>simulatie met name een Smoothed Particle Hydrodynamic (SPH) simulatie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Simulatie in Cpp code, positie van particles weggeschreven naar file (vtk) - 1 frame is 1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Visualiseren van particles via Paraview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4388" l="42808" r="15002" t="26070"/>
          <a:stretch/>
        </p:blipFill>
        <p:spPr>
          <a:xfrm>
            <a:off x="5009749" y="805500"/>
            <a:ext cx="3944827" cy="3532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18125" y="4495800"/>
            <a:ext cx="65556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100"/>
              <a:t>Müller, M., Charypar, D., &amp; Gross, M. (2003). </a:t>
            </a:r>
            <a:r>
              <a:rPr i="1" lang="nl" sz="1100"/>
              <a:t>Particle-Based Fluid Simulation for Interactive Applications</a:t>
            </a:r>
            <a:r>
              <a:rPr lang="nl" sz="1100"/>
              <a:t>. In Proceedings of the 2003 ACM SIGGRAPH/Eurographics symposium on Computer animation (SCA '03) (pp. 154-159).</a:t>
            </a:r>
            <a:endParaRPr sz="11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415900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Video</a:t>
            </a:r>
            <a:endParaRPr/>
          </a:p>
        </p:txBody>
      </p:sp>
      <p:pic>
        <p:nvPicPr>
          <p:cNvPr id="101" name="Google Shape;101;p15" title="WhatsApp Video 2025-12-11 at 13.03.3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725" y="604875"/>
            <a:ext cx="7943574" cy="447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Seriële</a:t>
            </a:r>
            <a:r>
              <a:rPr lang="nl"/>
              <a:t> Aanpak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Initialisatie van particles in een bol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Elke frame een update functie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Elke frame wegschrijven van positie particles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Update Functie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Bouwen</a:t>
            </a:r>
            <a:r>
              <a:rPr lang="nl"/>
              <a:t> van grid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Inwerkende krachten berekenen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Toepassen Zwaartekracht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Bewegen van de particle </a:t>
            </a:r>
            <a:r>
              <a:rPr lang="nl"/>
              <a:t>a.d.h.v.</a:t>
            </a:r>
            <a:r>
              <a:rPr lang="nl"/>
              <a:t> berekende snelheden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Constrainen van de particle binnen de bounding box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Grid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4767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Calculeert de positie van de particle in de 3D kubus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Gebruik van een smoothing radius (h in formules) (3*d) </a:t>
            </a:r>
            <a:br>
              <a:rPr lang="nl"/>
            </a:br>
            <a:r>
              <a:rPr lang="nl"/>
              <a:t>Cel grootte is de smoothing radius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Wordt gebruikt bij het bepalen van </a:t>
            </a:r>
            <a:r>
              <a:rPr lang="nl"/>
              <a:t>neighbours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Enkel deeltjes bekijken die in dezelfde of aangrenzende cellen zitten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Tijdscomplexiteit</a:t>
            </a:r>
            <a:r>
              <a:rPr lang="nl"/>
              <a:t> gaat van O(N^2) naar O(N * k) ofwel O(N) met k gemiddeld aantal buren</a:t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151" y="1678350"/>
            <a:ext cx="2433975" cy="257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Krachten Berekenen - Dichtheid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Loopt door alle buren met grid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Berekent druk voor elk elk deeltje met</a:t>
            </a:r>
            <a:r>
              <a:rPr lang="nl"/>
              <a:t>  dichtheid </a:t>
            </a:r>
            <a:r>
              <a:rPr lang="nl"/>
              <a:t>formule: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388" y="876300"/>
            <a:ext cx="2162175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6500" y="2757085"/>
            <a:ext cx="5443951" cy="9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Krachten Berekenen - Druk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Druk wordt </a:t>
            </a:r>
            <a:r>
              <a:rPr lang="nl"/>
              <a:t>berekend</a:t>
            </a:r>
            <a:r>
              <a:rPr lang="nl"/>
              <a:t> a.d.h.v. </a:t>
            </a:r>
            <a:r>
              <a:rPr lang="nl"/>
              <a:t>toestandsvergelijking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Indien dichtheid groter is dan rustdichtheid, </a:t>
            </a:r>
            <a:r>
              <a:rPr lang="nl"/>
              <a:t>ontstaat</a:t>
            </a:r>
            <a:r>
              <a:rPr lang="nl"/>
              <a:t> positieve druk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pressure[i] = k * (rho[i] - rho0) met rho0 de rustdichtheid met k de </a:t>
            </a:r>
            <a:r>
              <a:rPr lang="nl"/>
              <a:t>vermenigvuldigingsfactor</a:t>
            </a:r>
            <a:r>
              <a:rPr lang="nl"/>
              <a:t> bepaald door testen (k = 1000)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Krachten Berekenen - Drukkracht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7650" y="20407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Drukkracht: duwt deeltjes van hoge naar lage druk. Bepaald met </a:t>
            </a:r>
            <a:r>
              <a:rPr lang="nl"/>
              <a:t>gradiënt</a:t>
            </a:r>
            <a:r>
              <a:rPr lang="nl"/>
              <a:t> van Spiky Kernel: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Afgeleiden hiervan is dan: float coeff = -45.0f / (PI * pow(h, 6)) * (h - r) * (h - r) / r;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3400" y="273199"/>
            <a:ext cx="2124600" cy="17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426776"/>
            <a:ext cx="3766350" cy="71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Krachten Berekenen - Viscositeit</a:t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Remt snelheidsverschillen af tussen de buren. Berekent door laplaciaan van viscositeits kernel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	Laplaciaan functie is dan: 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8176" y="123875"/>
            <a:ext cx="2220775" cy="184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0" y="3287675"/>
            <a:ext cx="186690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6375" y="2396675"/>
            <a:ext cx="3673524" cy="7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Krachten Berekenen - Totaal</a:t>
            </a:r>
            <a:endParaRPr/>
          </a:p>
        </p:txBody>
      </p:sp>
      <p:sp>
        <p:nvSpPr>
          <p:cNvPr id="157" name="Google Shape;15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Druk berekenen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Kracht bereken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Drukkracht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Viscositeit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Repulsie (fail save) -&gt; Bij harde collision tussen particles, dit is standaard collision detection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3</a:t>
            </a:r>
            <a:r>
              <a:rPr baseline="30000" lang="nl"/>
              <a:t>de</a:t>
            </a:r>
            <a:r>
              <a:rPr lang="nl"/>
              <a:t> Wet v. Newton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Actie = Reactie, oftewel kracht op deeltje A = - kracht op deeltje B (Besparing Berekeningen)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Elk deeltje zijn snelheid wordt bepaald adhv F = m * a per tijdstip dt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Gebruikte </a:t>
            </a:r>
            <a:r>
              <a:rPr lang="nl"/>
              <a:t>Parallelle</a:t>
            </a:r>
            <a:r>
              <a:rPr lang="nl"/>
              <a:t> Aanpak</a:t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CUDA: Waarom?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Hoeveelheid deeltjes -&gt; GPU’s hebben duizend CUDA-cores. Schaalt goed met hoeveelheid deeltjes (1 thread per deeltje)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Soort berekeningen -&gt; Ideale SIMD </a:t>
            </a:r>
            <a:r>
              <a:rPr lang="nl"/>
              <a:t>Instructies</a:t>
            </a:r>
            <a:r>
              <a:rPr lang="nl"/>
              <a:t>, elke particle is onderheven aan precies dezelfde berekeningen (FLOPS, CUDA is hier hardware optimized in).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Concrete Parallelle Aanpak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Omzetten van </a:t>
            </a:r>
            <a:r>
              <a:rPr lang="nl"/>
              <a:t>seriële</a:t>
            </a:r>
            <a:r>
              <a:rPr lang="nl"/>
              <a:t> functies naar parallelle kernels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Behouden van zelfde bewerkingen, omzetten naar CUDA Kernels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Alloceren van geheugen op GPU, lezen/schrijven/initialiseren van/naar HOST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CUDA Functies voor het bepalen van Block/Grid size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Block zo groot mogelijk met 1 thread = 1 particle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grid = Aantal particles / Blocksize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Toepassen van loop striding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Caching van relevante data -&gt; Toepassen van bewerkingen -&gt; Terugschrijven van data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CUDA Synchronise waar nodig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Twee Scaling factoren bekeken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5 Verschillende GPU’s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6 Verschillende Utilisations per GPU </a:t>
            </a:r>
            <a:r>
              <a:rPr lang="nl"/>
              <a:t>(20%, 40%, 60%, 80%, 100% vd SM + Unlimited)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Theoretisch l</a:t>
            </a:r>
            <a:r>
              <a:rPr lang="nl"/>
              <a:t>ineair</a:t>
            </a:r>
            <a:r>
              <a:rPr lang="nl"/>
              <a:t>, meer processing power/cores -&gt; Sneller processen van alle particles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Benchmarks - Algemene Info</a:t>
            </a:r>
            <a:endParaRPr/>
          </a:p>
        </p:txBody>
      </p:sp>
      <p:graphicFrame>
        <p:nvGraphicFramePr>
          <p:cNvPr id="176" name="Google Shape;176;p26"/>
          <p:cNvGraphicFramePr/>
          <p:nvPr/>
        </p:nvGraphicFramePr>
        <p:xfrm>
          <a:off x="729450" y="302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{2AEB5338-5BE0-4403-9CFF-9F93B80C1C8A}</a:tableStyleId>
              </a:tblPr>
              <a:tblGrid>
                <a:gridCol w="1458950"/>
                <a:gridCol w="1458950"/>
                <a:gridCol w="1852875"/>
                <a:gridCol w="1458950"/>
                <a:gridCol w="1458950"/>
              </a:tblGrid>
              <a:tr h="49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GPU Model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Architectuur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FP32 TFLOPS (Single Precision)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Geheugen Bandbreedte (Intern)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Relatieve Performance</a:t>
                      </a:r>
                      <a:endParaRPr b="1" sz="1000"/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NVIDIA H100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Hopper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67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3.350 GB/s (3,35 TB/s)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100,00%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NVIDIA A100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Ampere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19,5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2.039 GB/s (2,0 TB/s)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29,10%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Tesla V100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Volta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15,7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900 GB/s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23,40%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19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Tesla P100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Pascal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10,6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732 GB/s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15,80%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41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RTX 3060 Laptop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Ampere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~10,9*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336 GB/s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16,30%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Benchmarks - Resultaten</a:t>
            </a:r>
            <a:endParaRPr/>
          </a:p>
        </p:txBody>
      </p:sp>
      <p:graphicFrame>
        <p:nvGraphicFramePr>
          <p:cNvPr id="182" name="Google Shape;182;p27"/>
          <p:cNvGraphicFramePr/>
          <p:nvPr/>
        </p:nvGraphicFramePr>
        <p:xfrm>
          <a:off x="158963" y="236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{2AEB5338-5BE0-4403-9CFF-9F93B80C1C8A}</a:tableStyleId>
              </a:tblPr>
              <a:tblGrid>
                <a:gridCol w="952500"/>
                <a:gridCol w="952500"/>
                <a:gridCol w="1209675"/>
                <a:gridCol w="952500"/>
                <a:gridCol w="9525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GPU Model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Totaal SMs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20% Power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40% Power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60% Power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80% Power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100% Power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Auto / Max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Beste Prestatie </a:t>
                      </a:r>
                      <a:endParaRPr sz="1000"/>
                    </a:p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t.o.v. H100</a:t>
                      </a:r>
                      <a:endParaRPr sz="1000"/>
                    </a:p>
                  </a:txBody>
                  <a:tcPr marT="19050" marB="19050" marR="91425" marL="91425" anchor="b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NVIDIA H100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132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16,25 ms (26)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8,59 ms (52)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7,05 ms (79)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5,88 ms (105)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6,11 ms (132)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5,91 ms (196)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NVIDIA A100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27,61 ms (21)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14,91 ms (43)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11,34 ms (64)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10,02 ms (86)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8,77 ms (108)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9,09 ms (196)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67,00%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Tesla V100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80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55,37 ms (16)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31,82 ms (32)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26,34 ms (48)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22,37 ms (64)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18,80 ms (80)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18,27 ms (196)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32,20%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Tesla P100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56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144,36 ms (11)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84,20 ms (22)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64,49 ms (33)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56,70 ms (44)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51,27 ms (56)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58,12 ms (196)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11,50%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RTX 3060 Laptop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30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124,14 ms (6)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90,58 ms (12)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79,92 ms (18)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75,05 ms (24)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nl" sz="1000"/>
                        <a:t>73,60 ms (30)</a:t>
                      </a:r>
                      <a:endParaRPr b="1"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75,93 ms (262)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" sz="1000"/>
                        <a:t>8,00%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183" name="Google Shape;183;p27"/>
          <p:cNvSpPr txBox="1"/>
          <p:nvPr/>
        </p:nvSpPr>
        <p:spPr>
          <a:xfrm>
            <a:off x="158975" y="3952875"/>
            <a:ext cx="882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000"/>
              <a:t>Opm: Totaal Aantal Particles: 200.477, Block size: 1024, behalve RTX 3060 -&gt; 768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86" y="0"/>
            <a:ext cx="88174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Opmerkingen Aanpak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Memory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Geen expliciete aandacht voor geoptimaliseerde memory-structuur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Array of Structures (AoS) </a:t>
            </a:r>
            <a:r>
              <a:rPr lang="nl"/>
              <a:t>vs.</a:t>
            </a:r>
            <a:r>
              <a:rPr lang="nl"/>
              <a:t> </a:t>
            </a:r>
            <a:r>
              <a:rPr lang="nl"/>
              <a:t>Structures</a:t>
            </a:r>
            <a:r>
              <a:rPr lang="nl"/>
              <a:t> of Arrays (SoA)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Constant heen en weer </a:t>
            </a:r>
            <a:r>
              <a:rPr lang="nl"/>
              <a:t>kopiëren</a:t>
            </a:r>
            <a:r>
              <a:rPr lang="nl"/>
              <a:t> van data naar RAM en VRAM is een dure operatie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Tests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High-end kaarten (eg. H100, A100) testen met meer particles, om breakpoint te vinden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Alternatieve Parallelle Aanpakken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OpenMP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Makkelijker om te zetten van seriële code naar parallelle code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Beperktere speed-up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Minder aantal threads in vergelijking met CUDA (honderden t.o.v.. duizenden)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CPU geoptimaliseerd voor general performance, CUDA superspecifiek voor floating point operartions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